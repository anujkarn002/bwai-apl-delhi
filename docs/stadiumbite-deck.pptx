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this around the audience experience at today's event.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5-step flow left to right. Emphasize: AI food detection happens at step 3, SSE push is real-time.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Two-tier confidence matching. Also detects image quality (good/acceptable/poor) and warns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Fail-open design: if Gemini is down, reviews auto-approve. ~$0.001 per call with thinking_budget=0.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Interactive slide. Project leaderboard on screen while audience submits reviews. Demo OTP: 999999.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>
            <a:spLocks noGrp="1"/>
          </p:cNvSpPr>
          <p:nvPr>
            <p:ph idx="0"/>
          </p:nvPr>
        </p:nvSpPr>
        <p:spPr>
          <a:xfrm>
            <a:off x="914400" y="1371600"/>
            <a:ext cx="10362895" cy="1828800"/>
          </a:xfrm>
        </p:spPr>
        <p:txBody>
          <a:bodyPr anchor="ctr"/>
          <a:lstStyle/>
          <a:p>
            <a:endParaRPr lang="en-US"/>
          </a:p>
        </p:txBody>
      </p:sp>
      <p:sp>
        <p:nvSpPr>
          <p:cNvPr id="101" name="Subtitle"/>
          <p:cNvSpPr>
            <a:spLocks noGrp="1"/>
          </p:cNvSpPr>
          <p:nvPr>
            <p:ph idx="1"/>
          </p:nvPr>
        </p:nvSpPr>
        <p:spPr>
          <a:xfrm>
            <a:off x="1371600" y="3383280"/>
            <a:ext cx="9448495" cy="1097280"/>
          </a:xfrm>
        </p:spPr>
        <p:txBody>
          <a:bodyPr anchor="ctr"/>
          <a:lstStyle/>
          <a:p>
            <a:endParaRPr lang="en-US"/>
          </a:p>
        </p:txBody>
      </p:sp>
      <p:sp>
        <p:nvSpPr>
          <p:cNvPr id="110" name="Prepared"/>
          <p:cNvSpPr>
            <a:spLocks noGrp="1"/>
          </p:cNvSpPr>
          <p:nvPr>
            <p:ph idx="10"/>
          </p:nvPr>
        </p:nvSpPr>
        <p:spPr>
          <a:xfrm>
            <a:off x="1371600" y="5029200"/>
            <a:ext cx="9448495" cy="1097280"/>
          </a:xfrm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>
            <a:spLocks noGrp="1"/>
          </p:cNvSpPr>
          <p:nvPr>
            <p:ph idx="0"/>
          </p:nvPr>
        </p:nvSpPr>
        <p:spPr>
          <a:xfrm>
            <a:off x="914400" y="1828800"/>
            <a:ext cx="10362895" cy="1828800"/>
          </a:xfrm>
        </p:spPr>
        <p:txBody>
          <a:bodyPr anchor="ctr"/>
          <a:lstStyle/>
          <a:p>
            <a:endParaRPr lang="en-US"/>
          </a:p>
        </p:txBody>
      </p:sp>
      <p:sp>
        <p:nvSpPr>
          <p:cNvPr id="101" name="Subtitle"/>
          <p:cNvSpPr>
            <a:spLocks noGrp="1"/>
          </p:cNvSpPr>
          <p:nvPr>
            <p:ph idx="1"/>
          </p:nvPr>
        </p:nvSpPr>
        <p:spPr>
          <a:xfrm>
            <a:off x="1371600" y="3840480"/>
            <a:ext cx="9448495" cy="914400"/>
          </a:xfrm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ontent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>
            <a:spLocks noGrp="1"/>
          </p:cNvSpPr>
          <p:nvPr>
            <p:ph idx="0"/>
          </p:nvPr>
        </p:nvSpPr>
        <p:spPr>
          <a:xfrm>
            <a:off x="548640" y="274320"/>
            <a:ext cx="10972800" cy="731520"/>
          </a:xfrm>
        </p:spPr>
        <p:txBody>
          <a:bodyPr anchor="ctr"/>
          <a:lstStyle/>
          <a:p>
            <a:endParaRPr lang="en-US"/>
          </a:p>
        </p:txBody>
      </p:sp>
      <p:sp>
        <p:nvSpPr>
          <p:cNvPr id="110" name="Subtitle"/>
          <p:cNvSpPr>
            <a:spLocks noGrp="1"/>
          </p:cNvSpPr>
          <p:nvPr>
            <p:ph idx="10"/>
          </p:nvPr>
        </p:nvSpPr>
        <p:spPr>
          <a:xfrm>
            <a:off x="548640" y="1005840"/>
            <a:ext cx="10972800" cy="457200"/>
          </a:xfrm>
        </p:spPr>
        <p:txBody>
          <a:bodyPr anchor="ctr"/>
          <a:lstStyle/>
          <a:p>
            <a:endParaRPr lang="en-US"/>
          </a:p>
        </p:txBody>
      </p:sp>
      <p:sp>
        <p:nvSpPr>
          <p:cNvPr id="101" name="Body"/>
          <p:cNvSpPr>
            <a:spLocks noGrp="1"/>
          </p:cNvSpPr>
          <p:nvPr>
            <p:ph idx="1"/>
          </p:nvPr>
        </p:nvSpPr>
        <p:spPr>
          <a:xfrm>
            <a:off x="548640" y="1554480"/>
            <a:ext cx="10972800" cy="4846320"/>
          </a:xfrm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End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>
            <a:spLocks noGrp="1"/>
          </p:cNvSpPr>
          <p:nvPr>
            <p:ph idx="0"/>
          </p:nvPr>
        </p:nvSpPr>
        <p:spPr>
          <a:xfrm>
            <a:off x="914400" y="2286000"/>
            <a:ext cx="10362895" cy="2286000"/>
          </a:xfrm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b="1">
                <a:latin typeface="Inter"/>
              </a:rPr>
              <a:t>StadiumBite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Inter"/>
              </a:rPr>
              <a:t>Live food ratings from the stands — powered by Gemini AI  |  3 May 2026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algn="l"/>
            <a:r>
              <a:rPr sz="1200">
                <a:solidFill>
                  <a:srgbClr val="757575"/>
                </a:solidFill>
                <a:latin typeface="Inter"/>
              </a:rPr>
              <a:t>Prepared for: Build With AI :: Agentic Premier League, Delhi</a:t>
            </a:r>
          </a:p>
          <a:p>
            <a:pPr algn="l"/>
            <a:r>
              <a:rPr sz="1200">
                <a:solidFill>
                  <a:srgbClr val="757575"/>
                </a:solidFill>
                <a:latin typeface="Inter"/>
              </a:rPr>
              <a:t>Prepared by: StadiumBite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b="1">
                <a:latin typeface="Inter"/>
              </a:rP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>
                <a:latin typeface="Inter"/>
              </a:rPr>
              <a:t>Stadium food is a gamble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a:indent="-164592" a:marL="256032"/>
            <a:r>
              <a:rPr sz="1400">
                <a:solidFill>
                  <a:srgbClr val="212121"/>
                </a:solidFill>
                <a:latin typeface="Inter"/>
              </a:rPr>
              <a:t>•  </a:t>
            </a:r>
            <a:r>
              <a:rPr sz="1400" b="0" i="0">
                <a:solidFill>
                  <a:srgbClr val="212121"/>
                </a:solidFill>
                <a:latin typeface="Inter"/>
              </a:rPr>
              <a:t>30,000+ fans. 20+ food stalls. Zero transparency.</a:t>
            </a:r>
          </a:p>
          <a:p>
            <a:pPr algn="l" a:indent="-164592" a:marL="256032"/>
            <a:r>
              <a:rPr sz="1400">
                <a:solidFill>
                  <a:srgbClr val="212121"/>
                </a:solidFill>
                <a:latin typeface="Inter"/>
              </a:rPr>
              <a:t>•  </a:t>
            </a:r>
            <a:r>
              <a:rPr sz="1400" b="0" i="0">
                <a:solidFill>
                  <a:srgbClr val="212121"/>
                </a:solidFill>
                <a:latin typeface="Inter"/>
              </a:rPr>
              <a:t>No way to know what's good before you queue 15 minutes</a:t>
            </a:r>
          </a:p>
          <a:p>
            <a:pPr algn="l" a:indent="-164592" a:marL="256032"/>
            <a:r>
              <a:rPr sz="1400">
                <a:solidFill>
                  <a:srgbClr val="212121"/>
                </a:solidFill>
                <a:latin typeface="Inter"/>
              </a:rPr>
              <a:t>•  </a:t>
            </a:r>
            <a:r>
              <a:rPr sz="1400" b="0" i="0">
                <a:solidFill>
                  <a:srgbClr val="212121"/>
                </a:solidFill>
                <a:latin typeface="Inter"/>
              </a:rPr>
              <a:t>Stall owners get no real-time feedback to improve</a:t>
            </a:r>
          </a:p>
          <a:p>
            <a:pPr algn="l" a:indent="-164592" a:marL="256032"/>
            <a:r>
              <a:rPr sz="1400">
                <a:solidFill>
                  <a:srgbClr val="212121"/>
                </a:solidFill>
                <a:latin typeface="Inter"/>
              </a:rPr>
              <a:t>•  </a:t>
            </a:r>
            <a:r>
              <a:rPr sz="1400" b="0" i="0">
                <a:solidFill>
                  <a:srgbClr val="212121"/>
                </a:solidFill>
                <a:latin typeface="Inter"/>
              </a:rPr>
              <a:t>Organizers are blind to food quality during the event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b="1">
                <a:latin typeface="Inter"/>
              </a:rPr>
              <a:t>How StadiumBite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>
                <a:latin typeface="Inter"/>
              </a:rPr>
              <a:t>Scan → Snap → Rate → Live leaderboard. Under 10 seconds.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194560" y="3856481"/>
            <a:ext cx="768096" cy="0"/>
          </a:xfrm>
          <a:prstGeom prst="line">
            <a:avLst/>
          </a:prstGeom>
          <a:ln w="19050">
            <a:solidFill>
              <a:srgbClr val="1A237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608576" y="3856481"/>
            <a:ext cx="548640" cy="0"/>
          </a:xfrm>
          <a:prstGeom prst="line">
            <a:avLst/>
          </a:prstGeom>
          <a:ln w="19050">
            <a:solidFill>
              <a:srgbClr val="1A237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34256" y="3728465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1">
                <a:solidFill>
                  <a:srgbClr val="757575"/>
                </a:solidFill>
                <a:latin typeface="Inter"/>
              </a:rPr>
              <a:t>Gemini Vision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022592" y="3856481"/>
            <a:ext cx="548639" cy="0"/>
          </a:xfrm>
          <a:prstGeom prst="line">
            <a:avLst/>
          </a:prstGeom>
          <a:ln w="19050">
            <a:solidFill>
              <a:srgbClr val="1A237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997695" y="3856481"/>
            <a:ext cx="548640" cy="0"/>
          </a:xfrm>
          <a:prstGeom prst="line">
            <a:avLst/>
          </a:prstGeom>
          <a:ln w="19050">
            <a:solidFill>
              <a:srgbClr val="1A237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23375" y="3728465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1">
                <a:solidFill>
                  <a:srgbClr val="757575"/>
                </a:solidFill>
                <a:latin typeface="Inter"/>
              </a:rPr>
              <a:t>SSE push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50691"/>
            <a:ext cx="1645919" cy="1211580"/>
          </a:xfrm>
          <a:prstGeom prst="roundRect">
            <a:avLst/>
          </a:prstGeom>
          <a:solidFill>
            <a:srgbClr val="D32F2F"/>
          </a:solidFill>
          <a:ln w="15875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Scan QR
&amp; Open PWA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62656" y="3250691"/>
            <a:ext cx="1645919" cy="1211580"/>
          </a:xfrm>
          <a:prstGeom prst="roundRect">
            <a:avLst/>
          </a:prstGeom>
          <a:solidFill>
            <a:srgbClr val="FF6F00"/>
          </a:solidFill>
          <a:ln w="15875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OTP Login
10 seconds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57216" y="3250691"/>
            <a:ext cx="1865376" cy="1211580"/>
          </a:xfrm>
          <a:prstGeom prst="roundRect">
            <a:avLst/>
          </a:prstGeom>
          <a:solidFill>
            <a:srgbClr val="00897B"/>
          </a:solidFill>
          <a:ln w="15875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Snap photo
AI detects
food item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71231" y="3250691"/>
            <a:ext cx="1426464" cy="1211580"/>
          </a:xfrm>
          <a:prstGeom prst="roundRect">
            <a:avLst/>
          </a:prstGeom>
          <a:solidFill>
            <a:srgbClr val="1565C0"/>
          </a:solidFill>
          <a:ln w="15875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Rate &amp;
Review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46336" y="3250691"/>
            <a:ext cx="1755648" cy="1211580"/>
          </a:xfrm>
          <a:prstGeom prst="roundRect">
            <a:avLst/>
          </a:prstGeom>
          <a:solidFill>
            <a:srgbClr val="D32F2F"/>
          </a:solidFill>
          <a:ln w="15875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Live
Leaderboard
updates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b="1">
                <a:latin typeface="Inter"/>
              </a:rPr>
              <a:t>Gemini AI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b="1">
                <a:latin typeface="Inter"/>
              </a:rPr>
              <a:t>AI Food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>
                <a:latin typeface="Inter"/>
              </a:rPr>
              <a:t>Gemini Vision identifies food from photos — no manual search needed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0" y="3735324"/>
            <a:ext cx="877824" cy="0"/>
          </a:xfrm>
          <a:prstGeom prst="line">
            <a:avLst/>
          </a:prstGeom>
          <a:ln w="19050">
            <a:solidFill>
              <a:srgbClr val="1A237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6364224" y="3052072"/>
            <a:ext cx="987551" cy="286012"/>
          </a:xfrm>
          <a:prstGeom prst="line">
            <a:avLst/>
          </a:prstGeom>
          <a:ln w="19050">
            <a:solidFill>
              <a:srgbClr val="1A237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09360" y="3067062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1">
                <a:solidFill>
                  <a:srgbClr val="757575"/>
                </a:solidFill>
                <a:latin typeface="Inter"/>
              </a:rPr>
              <a:t>high match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364224" y="4231873"/>
            <a:ext cx="987551" cy="357515"/>
          </a:xfrm>
          <a:prstGeom prst="line">
            <a:avLst/>
          </a:prstGeom>
          <a:ln w="19050">
            <a:solidFill>
              <a:srgbClr val="1A237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309360" y="4282614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1">
                <a:solidFill>
                  <a:srgbClr val="757575"/>
                </a:solidFill>
                <a:latin typeface="Inter"/>
              </a:rPr>
              <a:t>partial match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364224" y="3765019"/>
            <a:ext cx="3401568" cy="73645"/>
          </a:xfrm>
          <a:prstGeom prst="line">
            <a:avLst/>
          </a:prstGeom>
          <a:ln w="19050">
            <a:solidFill>
              <a:srgbClr val="1A237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16368" y="3673826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1">
                <a:solidFill>
                  <a:srgbClr val="757575"/>
                </a:solidFill>
                <a:latin typeface="Inter"/>
              </a:rPr>
              <a:t>no match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" y="3008376"/>
            <a:ext cx="1975104" cy="1453895"/>
          </a:xfrm>
          <a:prstGeom prst="roundRect">
            <a:avLst/>
          </a:prstGeom>
          <a:solidFill>
            <a:srgbClr val="FF6F00"/>
          </a:solidFill>
          <a:ln w="15875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Fan uploads
food photo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21024" y="2523744"/>
            <a:ext cx="2743200" cy="2423160"/>
          </a:xfrm>
          <a:prstGeom prst="roundRect">
            <a:avLst/>
          </a:prstGeom>
          <a:solidFill>
            <a:srgbClr val="1A237E"/>
          </a:solidFill>
          <a:ln w="15875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Gemini 2.5 Flash
Vision API
thinking_budget=0
(fast + cheap)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51775" y="2039112"/>
            <a:ext cx="1975104" cy="1453895"/>
          </a:xfrm>
          <a:prstGeom prst="roundRect">
            <a:avLst/>
          </a:prstGeom>
          <a:solidFill>
            <a:srgbClr val="00897B"/>
          </a:solidFill>
          <a:ln w="15875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≥75%
confidence
→ auto-select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51775" y="4219956"/>
            <a:ext cx="1975104" cy="1453895"/>
          </a:xfrm>
          <a:prstGeom prst="roundRect">
            <a:avLst/>
          </a:prstGeom>
          <a:solidFill>
            <a:srgbClr val="F9A825"/>
          </a:solidFill>
          <a:ln w="15875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212121"/>
                </a:solidFill>
                <a:latin typeface="Inter"/>
              </a:rPr>
              <a:t>≥40%
confidence
→ suggestions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65792" y="3250691"/>
            <a:ext cx="1645919" cy="1211580"/>
          </a:xfrm>
          <a:prstGeom prst="roundRect">
            <a:avLst/>
          </a:prstGeom>
          <a:solidFill>
            <a:srgbClr val="757575"/>
          </a:solidFill>
          <a:ln w="15875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Not food?
→ manual
selection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b="1">
                <a:latin typeface="Inter"/>
              </a:rPr>
              <a:t>AI Content Moderation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>
                <a:latin typeface="Inter"/>
              </a:rPr>
              <a:t>Every review checked for safety, abuse, and PII — without blocking the user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072384" y="3735324"/>
            <a:ext cx="1097280" cy="0"/>
          </a:xfrm>
          <a:prstGeom prst="line">
            <a:avLst/>
          </a:prstGeom>
          <a:ln w="19050">
            <a:solidFill>
              <a:srgbClr val="1A237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072384" y="3607308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1">
                <a:solidFill>
                  <a:srgbClr val="757575"/>
                </a:solidFill>
                <a:latin typeface="Inter"/>
              </a:rPr>
              <a:t>async background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7242048" y="3062224"/>
            <a:ext cx="1207008" cy="296164"/>
          </a:xfrm>
          <a:prstGeom prst="line">
            <a:avLst/>
          </a:prstGeom>
          <a:ln w="19050">
            <a:solidFill>
              <a:srgbClr val="1A237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296912" y="3082290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1">
                <a:solidFill>
                  <a:srgbClr val="757575"/>
                </a:solidFill>
                <a:latin typeface="Inter"/>
              </a:rPr>
              <a:t>safe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242048" y="4206494"/>
            <a:ext cx="1207008" cy="370205"/>
          </a:xfrm>
          <a:prstGeom prst="line">
            <a:avLst/>
          </a:prstGeom>
          <a:ln w="19050">
            <a:solidFill>
              <a:srgbClr val="1A237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296912" y="4263580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1">
                <a:solidFill>
                  <a:srgbClr val="757575"/>
                </a:solidFill>
                <a:latin typeface="Inter"/>
              </a:rPr>
              <a:t>unsafe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3008376"/>
            <a:ext cx="1975104" cy="1453895"/>
          </a:xfrm>
          <a:prstGeom prst="roundRect">
            <a:avLst/>
          </a:prstGeom>
          <a:solidFill>
            <a:srgbClr val="FF6F00"/>
          </a:solidFill>
          <a:ln w="15875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Review
submitted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9663" y="2523744"/>
            <a:ext cx="3072384" cy="2423160"/>
          </a:xfrm>
          <a:prstGeom prst="roundRect">
            <a:avLst/>
          </a:prstGeom>
          <a:solidFill>
            <a:srgbClr val="1A237E"/>
          </a:solidFill>
          <a:ln w="15875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Gemini 2.5 Flash
Safety check
Relevance check
PII detection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49056" y="2039112"/>
            <a:ext cx="2414016" cy="1453895"/>
          </a:xfrm>
          <a:prstGeom prst="roundRect">
            <a:avLst/>
          </a:prstGeom>
          <a:solidFill>
            <a:srgbClr val="00897B"/>
          </a:solidFill>
          <a:ln w="15875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Approved
→ Leaderboard
&amp; Feed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49056" y="4219956"/>
            <a:ext cx="2414016" cy="1453895"/>
          </a:xfrm>
          <a:prstGeom prst="roundRect">
            <a:avLst/>
          </a:prstGeom>
          <a:solidFill>
            <a:srgbClr val="D32F2F"/>
          </a:solidFill>
          <a:ln w="15875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Flagged
→ Hidden from
aggregates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b="1">
                <a:latin typeface="Inter"/>
              </a:rPr>
              <a:t>Features That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6016752" y="1554480"/>
            <a:ext cx="36576" cy="484632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257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A237E"/>
                </a:solidFill>
                <a:latin typeface="Inter"/>
              </a:rPr>
              <a:t>For Fans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27064" y="1554480"/>
            <a:ext cx="5257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A237E"/>
                </a:solidFill>
                <a:latin typeface="Inter"/>
              </a:rPr>
              <a:t>For Organizers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525780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a:indent="-164592" a:marL="256032"/>
            <a:r>
              <a:rPr sz="1300">
                <a:solidFill>
                  <a:srgbClr val="212121"/>
                </a:solidFill>
                <a:latin typeface="Inter"/>
              </a:rPr>
              <a:t>•  </a:t>
            </a:r>
            <a:r>
              <a:rPr sz="1300" b="0" i="0">
                <a:solidFill>
                  <a:srgbClr val="212121"/>
                </a:solidFill>
                <a:latin typeface="Inter"/>
              </a:rPr>
              <a:t>Photo-first reviews — snap and AI identifies the food</a:t>
            </a:r>
          </a:p>
          <a:p>
            <a:pPr algn="l" a:indent="-164592" a:marL="256032"/>
            <a:r>
              <a:rPr sz="1300">
                <a:solidFill>
                  <a:srgbClr val="212121"/>
                </a:solidFill>
                <a:latin typeface="Inter"/>
              </a:rPr>
              <a:t>•  </a:t>
            </a:r>
            <a:r>
              <a:rPr sz="1300" b="0" i="0">
                <a:solidFill>
                  <a:srgbClr val="212121"/>
                </a:solidFill>
                <a:latin typeface="Inter"/>
              </a:rPr>
              <a:t>Live leaderboard — top picks update in real time via SSE</a:t>
            </a:r>
          </a:p>
          <a:p>
            <a:pPr algn="l" a:indent="-164592" a:marL="256032"/>
            <a:r>
              <a:rPr sz="1300">
                <a:solidFill>
                  <a:srgbClr val="212121"/>
                </a:solidFill>
                <a:latin typeface="Inter"/>
              </a:rPr>
              <a:t>•  </a:t>
            </a:r>
            <a:r>
              <a:rPr sz="1300" b="0" i="0">
                <a:solidFill>
                  <a:srgbClr val="212121"/>
                </a:solidFill>
                <a:latin typeface="Inter"/>
              </a:rPr>
              <a:t>Social feed — browse reviews with photos, filter by type</a:t>
            </a:r>
          </a:p>
          <a:p>
            <a:pPr algn="l" a:indent="-164592" a:marL="256032"/>
            <a:r>
              <a:rPr sz="1300">
                <a:solidFill>
                  <a:srgbClr val="212121"/>
                </a:solidFill>
                <a:latin typeface="Inter"/>
              </a:rPr>
              <a:t>•  </a:t>
            </a:r>
            <a:r>
              <a:rPr sz="1300" b="0" i="0">
                <a:solidFill>
                  <a:srgbClr val="212121"/>
                </a:solidFill>
                <a:latin typeface="Inter"/>
              </a:rPr>
              <a:t>PWA — install from browser, no app store needed</a:t>
            </a:r>
          </a:p>
          <a:p>
            <a:pPr algn="l" a:indent="-164592" a:marL="256032"/>
            <a:r>
              <a:rPr sz="1300">
                <a:solidFill>
                  <a:srgbClr val="212121"/>
                </a:solidFill>
                <a:latin typeface="Inter"/>
              </a:rPr>
              <a:t>•  </a:t>
            </a:r>
            <a:r>
              <a:rPr sz="1300" b="0" i="0">
                <a:solidFill>
                  <a:srgbClr val="212121"/>
                </a:solidFill>
                <a:latin typeface="Inter"/>
              </a:rPr>
              <a:t>OTP login — no passwords, 10-second onboarding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27064" y="2057400"/>
            <a:ext cx="525780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a:indent="-164592" a:marL="256032"/>
            <a:r>
              <a:rPr sz="1300">
                <a:solidFill>
                  <a:srgbClr val="212121"/>
                </a:solidFill>
                <a:latin typeface="Inter"/>
              </a:rPr>
              <a:t>•  </a:t>
            </a:r>
            <a:r>
              <a:rPr sz="1300" b="0" i="0">
                <a:solidFill>
                  <a:srgbClr val="212121"/>
                </a:solidFill>
                <a:latin typeface="Inter"/>
              </a:rPr>
              <a:t>Real-time quality signal across all stalls</a:t>
            </a:r>
          </a:p>
          <a:p>
            <a:pPr algn="l" a:indent="-164592" a:marL="256032"/>
            <a:r>
              <a:rPr sz="1300">
                <a:solidFill>
                  <a:srgbClr val="212121"/>
                </a:solidFill>
                <a:latin typeface="Inter"/>
              </a:rPr>
              <a:t>•  </a:t>
            </a:r>
            <a:r>
              <a:rPr sz="1300" b="0" i="0">
                <a:solidFill>
                  <a:srgbClr val="212121"/>
                </a:solidFill>
                <a:latin typeface="Inter"/>
              </a:rPr>
              <a:t>AI moderation — no manual review queue</a:t>
            </a:r>
          </a:p>
          <a:p>
            <a:pPr algn="l" a:indent="-164592" a:marL="256032"/>
            <a:r>
              <a:rPr sz="1300">
                <a:solidFill>
                  <a:srgbClr val="212121"/>
                </a:solidFill>
                <a:latin typeface="Inter"/>
              </a:rPr>
              <a:t>•  </a:t>
            </a:r>
            <a:r>
              <a:rPr sz="1300" b="0" i="0">
                <a:solidFill>
                  <a:srgbClr val="212121"/>
                </a:solidFill>
                <a:latin typeface="Inter"/>
              </a:rPr>
              <a:t>Admin dashboard — stats, charts, review management</a:t>
            </a:r>
          </a:p>
          <a:p>
            <a:pPr algn="l" a:indent="-164592" a:marL="256032"/>
            <a:r>
              <a:rPr sz="1300">
                <a:solidFill>
                  <a:srgbClr val="212121"/>
                </a:solidFill>
                <a:latin typeface="Inter"/>
              </a:rPr>
              <a:t>•  </a:t>
            </a:r>
            <a:r>
              <a:rPr sz="1300" b="0" i="0">
                <a:solidFill>
                  <a:srgbClr val="212121"/>
                </a:solidFill>
                <a:latin typeface="Inter"/>
              </a:rPr>
              <a:t>Food catalog CRUD — manage stalls and items live</a:t>
            </a:r>
          </a:p>
          <a:p>
            <a:pPr algn="l" a:indent="-164592" a:marL="256032"/>
            <a:r>
              <a:rPr sz="1300">
                <a:solidFill>
                  <a:srgbClr val="212121"/>
                </a:solidFill>
                <a:latin typeface="Inter"/>
              </a:rPr>
              <a:t>•  </a:t>
            </a:r>
            <a:r>
              <a:rPr sz="1300" b="0" i="0">
                <a:solidFill>
                  <a:srgbClr val="212121"/>
                </a:solidFill>
                <a:latin typeface="Inter"/>
              </a:rPr>
              <a:t>Single-URL deploy — one container, zero DevOps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b="1">
                <a:latin typeface="Inter"/>
              </a:rPr>
              <a:t>Beyond Ratings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6016752" y="1554480"/>
            <a:ext cx="36576" cy="484632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257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A237E"/>
                </a:solidFill>
                <a:latin typeface="Inter"/>
              </a:rPr>
              <a:t>Social Feed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27064" y="1554480"/>
            <a:ext cx="5257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A237E"/>
                </a:solidFill>
                <a:latin typeface="Inter"/>
              </a:rPr>
              <a:t>Admin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525780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a:indent="-164592" a:marL="256032"/>
            <a:r>
              <a:rPr sz="1300">
                <a:solidFill>
                  <a:srgbClr val="212121"/>
                </a:solidFill>
                <a:latin typeface="Inter"/>
              </a:rPr>
              <a:t>•  </a:t>
            </a:r>
            <a:r>
              <a:rPr sz="1300" b="0" i="0">
                <a:solidFill>
                  <a:srgbClr val="212121"/>
                </a:solidFill>
                <a:latin typeface="Inter"/>
              </a:rPr>
              <a:t>Photo-first sorting — images surface first</a:t>
            </a:r>
          </a:p>
          <a:p>
            <a:pPr algn="l" a:indent="-164592" a:marL="256032"/>
            <a:r>
              <a:rPr sz="1300">
                <a:solidFill>
                  <a:srgbClr val="212121"/>
                </a:solidFill>
                <a:latin typeface="Inter"/>
              </a:rPr>
              <a:t>•  </a:t>
            </a:r>
            <a:r>
              <a:rPr sz="1300" b="0" i="0">
                <a:solidFill>
                  <a:srgbClr val="212121"/>
                </a:solidFill>
                <a:latin typeface="Inter"/>
              </a:rPr>
              <a:t>Three filter tabs: All, Photos, Text-only</a:t>
            </a:r>
          </a:p>
          <a:p>
            <a:pPr algn="l" a:indent="-164592" a:marL="256032"/>
            <a:r>
              <a:rPr sz="1300">
                <a:solidFill>
                  <a:srgbClr val="212121"/>
                </a:solidFill>
                <a:latin typeface="Inter"/>
              </a:rPr>
              <a:t>•  </a:t>
            </a:r>
            <a:r>
              <a:rPr sz="1300" b="0" i="0">
                <a:solidFill>
                  <a:srgbClr val="212121"/>
                </a:solidFill>
                <a:latin typeface="Inter"/>
              </a:rPr>
              <a:t>Lazy-loaded with fade-in animations</a:t>
            </a:r>
          </a:p>
          <a:p>
            <a:pPr algn="l" a:indent="-164592" a:marL="256032"/>
            <a:r>
              <a:rPr sz="1300">
                <a:solidFill>
                  <a:srgbClr val="212121"/>
                </a:solidFill>
                <a:latin typeface="Inter"/>
              </a:rPr>
              <a:t>•  </a:t>
            </a:r>
            <a:r>
              <a:rPr sz="1300" b="0" i="0">
                <a:solidFill>
                  <a:srgbClr val="212121"/>
                </a:solidFill>
                <a:latin typeface="Inter"/>
              </a:rPr>
              <a:t>Auto-refresh every 30 seconds</a:t>
            </a:r>
          </a:p>
          <a:p>
            <a:pPr algn="l" a:indent="-164592" a:marL="256032"/>
            <a:r>
              <a:rPr sz="1300">
                <a:solidFill>
                  <a:srgbClr val="212121"/>
                </a:solidFill>
                <a:latin typeface="Inter"/>
              </a:rPr>
              <a:t>•  </a:t>
            </a:r>
            <a:r>
              <a:rPr sz="1300" b="0" i="0">
                <a:solidFill>
                  <a:srgbClr val="212121"/>
                </a:solidFill>
                <a:latin typeface="Inter"/>
              </a:rPr>
              <a:t>Privacy-safe — user IDs masked (1234</a:t>
            </a:r>
            <a:r>
              <a:rPr sz="1300" b="0" i="1">
                <a:solidFill>
                  <a:srgbClr val="212121"/>
                </a:solidFill>
                <a:latin typeface="Inter"/>
              </a:rPr>
              <a:t>*</a:t>
            </a:r>
            <a:r>
              <a:rPr sz="1300" b="0" i="0">
                <a:solidFill>
                  <a:srgbClr val="212121"/>
                </a:solidFill>
                <a:latin typeface="Inter"/>
              </a:rPr>
              <a:t>*)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27064" y="2057400"/>
            <a:ext cx="525780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a:indent="-164592" a:marL="256032"/>
            <a:r>
              <a:rPr sz="1300">
                <a:solidFill>
                  <a:srgbClr val="212121"/>
                </a:solidFill>
                <a:latin typeface="Inter"/>
              </a:rPr>
              <a:t>•  </a:t>
            </a:r>
            <a:r>
              <a:rPr sz="1300" b="0" i="0">
                <a:solidFill>
                  <a:srgbClr val="212121"/>
                </a:solidFill>
                <a:latin typeface="Inter"/>
              </a:rPr>
              <a:t>Stats panel: reviews, avg rating, users, foods</a:t>
            </a:r>
          </a:p>
          <a:p>
            <a:pPr algn="l" a:indent="-164592" a:marL="256032"/>
            <a:r>
              <a:rPr sz="1300">
                <a:solidFill>
                  <a:srgbClr val="212121"/>
                </a:solidFill>
                <a:latin typeface="Inter"/>
              </a:rPr>
              <a:t>•  </a:t>
            </a:r>
            <a:r>
              <a:rPr sz="1300" b="0" i="0">
                <a:solidFill>
                  <a:srgbClr val="212121"/>
                </a:solidFill>
                <a:latin typeface="Inter"/>
              </a:rPr>
              <a:t>Moderation breakdown: pending/approved/flagged</a:t>
            </a:r>
          </a:p>
          <a:p>
            <a:pPr algn="l" a:indent="-164592" a:marL="256032"/>
            <a:r>
              <a:rPr sz="1300">
                <a:solidFill>
                  <a:srgbClr val="212121"/>
                </a:solidFill>
                <a:latin typeface="Inter"/>
              </a:rPr>
              <a:t>•  </a:t>
            </a:r>
            <a:r>
              <a:rPr sz="1300" b="0" i="0">
                <a:solidFill>
                  <a:srgbClr val="212121"/>
                </a:solidFill>
                <a:latin typeface="Inter"/>
              </a:rPr>
              <a:t>24-hour reviews-per-hour bar chart</a:t>
            </a:r>
          </a:p>
          <a:p>
            <a:pPr algn="l" a:indent="-164592" a:marL="256032"/>
            <a:r>
              <a:rPr sz="1300">
                <a:solidFill>
                  <a:srgbClr val="212121"/>
                </a:solidFill>
                <a:latin typeface="Inter"/>
              </a:rPr>
              <a:t>•  </a:t>
            </a:r>
            <a:r>
              <a:rPr sz="1300" b="0" i="0">
                <a:solidFill>
                  <a:srgbClr val="212121"/>
                </a:solidFill>
                <a:latin typeface="Inter"/>
              </a:rPr>
              <a:t>Review management: hide or hard-delete with aggregate rollback</a:t>
            </a:r>
          </a:p>
          <a:p>
            <a:pPr algn="l" a:indent="-164592" a:marL="256032"/>
            <a:r>
              <a:rPr sz="1300">
                <a:solidFill>
                  <a:srgbClr val="212121"/>
                </a:solidFill>
                <a:latin typeface="Inter"/>
              </a:rPr>
              <a:t>•  </a:t>
            </a:r>
            <a:r>
              <a:rPr sz="1300" b="0" i="0">
                <a:solidFill>
                  <a:srgbClr val="212121"/>
                </a:solidFill>
                <a:latin typeface="Inter"/>
              </a:rPr>
              <a:t>Inline food catalog editing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b="1">
                <a:latin typeface="Inter"/>
              </a:rPr>
              <a:t>Built to Ship Fast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>
                <a:latin typeface="Inter"/>
              </a:rPr>
              <a:t>Modern stack, single Dockerfile, zero DevOps overhead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1097280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62712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AFAFA"/>
                          </a:solidFill>
                          <a:latin typeface="Inter"/>
                        </a:rPr>
                        <a:t>Layer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AFAFA"/>
                          </a:solidFill>
                          <a:latin typeface="Inter"/>
                        </a:rPr>
                        <a:t>Technology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AFAFA"/>
                          </a:solidFill>
                          <a:latin typeface="Inter"/>
                        </a:rPr>
                        <a:t>Why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12121"/>
                          </a:solidFill>
                          <a:latin typeface="Inter"/>
                        </a:rPr>
                        <a:t>Frontend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12121"/>
                          </a:solidFill>
                          <a:latin typeface="Inter"/>
                        </a:rPr>
                        <a:t>React 19 + Vite + TanStack + Tailwind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12121"/>
                          </a:solidFill>
                          <a:latin typeface="Inter"/>
                        </a:rPr>
                        <a:t>PWA-ready, type-safe, instant HMR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12121"/>
                          </a:solidFill>
                          <a:latin typeface="Inter"/>
                        </a:rPr>
                        <a:t>Backend</a:t>
                      </a:r>
                    </a:p>
                  </a:txBody>
                  <a:tcPr>
                    <a:solidFill>
                      <a:srgbClr val="D32F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12121"/>
                          </a:solidFill>
                          <a:latin typeface="Inter"/>
                        </a:rPr>
                        <a:t>FastAPI + Firestore + PyJWT</a:t>
                      </a:r>
                    </a:p>
                  </a:txBody>
                  <a:tcPr>
                    <a:solidFill>
                      <a:srgbClr val="D32F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12121"/>
                          </a:solidFill>
                          <a:latin typeface="Inter"/>
                        </a:rPr>
                        <a:t>Async, Pydantic validation, SSE-native</a:t>
                      </a:r>
                    </a:p>
                  </a:txBody>
                  <a:tcPr>
                    <a:solidFill>
                      <a:srgbClr val="D32F2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12121"/>
                          </a:solidFill>
                          <a:latin typeface="Inter"/>
                        </a:rPr>
                        <a:t>AI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12121"/>
                          </a:solidFill>
                          <a:latin typeface="Inter"/>
                        </a:rPr>
                        <a:t>Gemini 2.5 Flash (google-genai)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12121"/>
                          </a:solidFill>
                          <a:latin typeface="Inter"/>
                        </a:rPr>
                        <a:t>Vision + text, ~$0.001/call, thinking_budget=0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12121"/>
                          </a:solidFill>
                          <a:latin typeface="Inter"/>
                        </a:rPr>
                        <a:t>Real-time</a:t>
                      </a:r>
                    </a:p>
                  </a:txBody>
                  <a:tcPr>
                    <a:solidFill>
                      <a:srgbClr val="D32F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12121"/>
                          </a:solidFill>
                          <a:latin typeface="Inter"/>
                        </a:rPr>
                        <a:t>Server-Sent Events (SSE)</a:t>
                      </a:r>
                    </a:p>
                  </a:txBody>
                  <a:tcPr>
                    <a:solidFill>
                      <a:srgbClr val="D32F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12121"/>
                          </a:solidFill>
                          <a:latin typeface="Inter"/>
                        </a:rPr>
                        <a:t>One-way push, auto-reconnect, no WS overhead</a:t>
                      </a:r>
                    </a:p>
                  </a:txBody>
                  <a:tcPr>
                    <a:solidFill>
                      <a:srgbClr val="D32F2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12121"/>
                          </a:solidFill>
                          <a:latin typeface="Inter"/>
                        </a:rPr>
                        <a:t>Deploy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12121"/>
                          </a:solidFill>
                          <a:latin typeface="Inter"/>
                        </a:rPr>
                        <a:t>Cloud Run (single container)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12121"/>
                          </a:solidFill>
                          <a:latin typeface="Inter"/>
                        </a:rPr>
                        <a:t>API + SPA in one, auto-scale, $0 at idle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b="1">
                <a:latin typeface="Inter"/>
              </a:rPr>
              <a:t>Engineering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>
                <a:latin typeface="Inter"/>
              </a:rPr>
              <a:t>Built for stadium conditions — unreliable WiFi, thousands of concurrent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a:indent="-164592" a:marL="256032"/>
            <a:r>
              <a:rPr sz="1400">
                <a:solidFill>
                  <a:srgbClr val="212121"/>
                </a:solidFill>
                <a:latin typeface="Inter"/>
              </a:rPr>
              <a:t>•  </a:t>
            </a:r>
            <a:r>
              <a:rPr sz="1400" b="1" i="0">
                <a:solidFill>
                  <a:srgbClr val="212121"/>
                </a:solidFill>
                <a:latin typeface="Inter"/>
              </a:rPr>
              <a:t>Firestore transactions</a:t>
            </a:r>
            <a:r>
              <a:rPr sz="1400" b="0" i="0">
                <a:solidFill>
                  <a:srgbClr val="212121"/>
                </a:solidFill>
                <a:latin typeface="Inter"/>
              </a:rPr>
              <a:t> — review + aggregates + user count in one atomic op</a:t>
            </a:r>
          </a:p>
          <a:p>
            <a:pPr algn="l" a:indent="-164592" a:marL="256032"/>
            <a:r>
              <a:rPr sz="1400">
                <a:solidFill>
                  <a:srgbClr val="212121"/>
                </a:solidFill>
                <a:latin typeface="Inter"/>
              </a:rPr>
              <a:t>•  </a:t>
            </a:r>
            <a:r>
              <a:rPr sz="1400" b="1" i="0">
                <a:solidFill>
                  <a:srgbClr val="212121"/>
                </a:solidFill>
                <a:latin typeface="Inter"/>
              </a:rPr>
              <a:t>Client-side image resize</a:t>
            </a:r>
            <a:r>
              <a:rPr sz="1400" b="0" i="0">
                <a:solidFill>
                  <a:srgbClr val="212121"/>
                </a:solidFill>
                <a:latin typeface="Inter"/>
              </a:rPr>
              <a:t> — 800px max, 0.7 JPEG quality before upload (stadium WiFi)</a:t>
            </a:r>
          </a:p>
          <a:p>
            <a:pPr algn="l" a:indent="-164592" a:marL="256032"/>
            <a:r>
              <a:rPr sz="1400">
                <a:solidFill>
                  <a:srgbClr val="212121"/>
                </a:solidFill>
                <a:latin typeface="Inter"/>
              </a:rPr>
              <a:t>•  </a:t>
            </a:r>
            <a:r>
              <a:rPr sz="1400" b="1" i="0">
                <a:solidFill>
                  <a:srgbClr val="212121"/>
                </a:solidFill>
                <a:latin typeface="Inter"/>
              </a:rPr>
              <a:t>Fail-open AI</a:t>
            </a:r>
            <a:r>
              <a:rPr sz="1400" b="0" i="0">
                <a:solidFill>
                  <a:srgbClr val="212121"/>
                </a:solidFill>
                <a:latin typeface="Inter"/>
              </a:rPr>
              <a:t> — if Gemini is down, reviews auto-approve. Reliability &gt; strictness</a:t>
            </a:r>
          </a:p>
          <a:p>
            <a:pPr algn="l" a:indent="-164592" a:marL="256032"/>
            <a:r>
              <a:rPr sz="1400">
                <a:solidFill>
                  <a:srgbClr val="212121"/>
                </a:solidFill>
                <a:latin typeface="Inter"/>
              </a:rPr>
              <a:t>•  </a:t>
            </a:r>
            <a:r>
              <a:rPr sz="1400" b="1" i="0">
                <a:solidFill>
                  <a:srgbClr val="212121"/>
                </a:solidFill>
                <a:latin typeface="Inter"/>
              </a:rPr>
              <a:t>SSE with hash diffing</a:t>
            </a:r>
            <a:r>
              <a:rPr sz="1400" b="0" i="0">
                <a:solidFill>
                  <a:srgbClr val="212121"/>
                </a:solidFill>
                <a:latin typeface="Inter"/>
              </a:rPr>
              <a:t> — only pushes when data actually changes, not on every poll</a:t>
            </a:r>
          </a:p>
          <a:p>
            <a:pPr algn="l" a:indent="-164592" a:marL="256032"/>
            <a:r>
              <a:rPr sz="1400">
                <a:solidFill>
                  <a:srgbClr val="212121"/>
                </a:solidFill>
                <a:latin typeface="Inter"/>
              </a:rPr>
              <a:t>•  </a:t>
            </a:r>
            <a:r>
              <a:rPr sz="1400" b="1" i="0">
                <a:solidFill>
                  <a:srgbClr val="212121"/>
                </a:solidFill>
                <a:latin typeface="Inter"/>
              </a:rPr>
              <a:t>Transactional aggregate rollback</a:t>
            </a:r>
            <a:r>
              <a:rPr sz="1400" b="0" i="0">
                <a:solidFill>
                  <a:srgbClr val="212121"/>
                </a:solidFill>
                <a:latin typeface="Inter"/>
              </a:rPr>
              <a:t> — admin deletes correctly decrement all counters</a:t>
            </a:r>
          </a:p>
          <a:p>
            <a:pPr algn="l" a:indent="-164592" a:marL="256032"/>
            <a:r>
              <a:rPr sz="1400">
                <a:solidFill>
                  <a:srgbClr val="212121"/>
                </a:solidFill>
                <a:latin typeface="Inter"/>
              </a:rPr>
              <a:t>•  </a:t>
            </a:r>
            <a:r>
              <a:rPr sz="1400" b="1" i="0">
                <a:solidFill>
                  <a:srgbClr val="212121"/>
                </a:solidFill>
                <a:latin typeface="Inter"/>
              </a:rPr>
              <a:t>SPA fallback serving</a:t>
            </a:r>
            <a:r>
              <a:rPr sz="1400" b="0" i="0">
                <a:solidFill>
                  <a:srgbClr val="212121"/>
                </a:solidFill>
                <a:latin typeface="Inter"/>
              </a:rPr>
              <a:t> — FastAPI serves static files + catch-all for client routing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b="1">
                <a:latin typeface="Inter"/>
              </a:rPr>
              <a:t>Why This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>
                <a:latin typeface="Inter"/>
              </a:rPr>
              <a:t>Real engagement, real signal, real-time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a:indent="-164592" a:marL="256032"/>
            <a:r>
              <a:rPr sz="1400">
                <a:solidFill>
                  <a:srgbClr val="212121"/>
                </a:solidFill>
                <a:latin typeface="Inter"/>
              </a:rPr>
              <a:t>•  </a:t>
            </a:r>
            <a:r>
              <a:rPr sz="1400" b="0" i="0">
                <a:solidFill>
                  <a:srgbClr val="212121"/>
                </a:solidFill>
                <a:latin typeface="Inter"/>
              </a:rPr>
              <a:t>Turns passive spectators into active participants</a:t>
            </a:r>
          </a:p>
          <a:p>
            <a:pPr algn="l" a:indent="-164592" a:marL="256032"/>
            <a:r>
              <a:rPr sz="1400">
                <a:solidFill>
                  <a:srgbClr val="212121"/>
                </a:solidFill>
                <a:latin typeface="Inter"/>
              </a:rPr>
              <a:t>•  </a:t>
            </a:r>
            <a:r>
              <a:rPr sz="1400" b="0" i="0">
                <a:solidFill>
                  <a:srgbClr val="212121"/>
                </a:solidFill>
                <a:latin typeface="Inter"/>
              </a:rPr>
              <a:t>Social feedback loop — reviews drive curiosity, curiosity drives reviews</a:t>
            </a:r>
          </a:p>
          <a:p>
            <a:pPr algn="l" a:indent="-164592" a:marL="256032"/>
            <a:r>
              <a:rPr sz="1400">
                <a:solidFill>
                  <a:srgbClr val="212121"/>
                </a:solidFill>
                <a:latin typeface="Inter"/>
              </a:rPr>
              <a:t>•  </a:t>
            </a:r>
            <a:r>
              <a:rPr sz="1400" b="0" i="0">
                <a:solidFill>
                  <a:srgbClr val="212121"/>
                </a:solidFill>
                <a:latin typeface="Inter"/>
              </a:rPr>
              <a:t>Stall owners can adapt mid-event based on live ratings</a:t>
            </a:r>
          </a:p>
          <a:p>
            <a:pPr algn="l" a:indent="-164592" a:marL="256032"/>
            <a:r>
              <a:rPr sz="1400">
                <a:solidFill>
                  <a:srgbClr val="212121"/>
                </a:solidFill>
                <a:latin typeface="Inter"/>
              </a:rPr>
              <a:t>•  </a:t>
            </a:r>
            <a:r>
              <a:rPr sz="1400" b="0" i="0">
                <a:solidFill>
                  <a:srgbClr val="212121"/>
                </a:solidFill>
                <a:latin typeface="Inter"/>
              </a:rPr>
              <a:t>Organizers get data to negotiate better vendors next time</a:t>
            </a:r>
          </a:p>
          <a:p>
            <a:pPr algn="l" a:indent="-164592" a:marL="256032"/>
            <a:r>
              <a:rPr sz="1400">
                <a:solidFill>
                  <a:srgbClr val="212121"/>
                </a:solidFill>
                <a:latin typeface="Inter"/>
              </a:rPr>
              <a:t>•  </a:t>
            </a:r>
            <a:r>
              <a:rPr sz="1400" b="0" i="0">
                <a:solidFill>
                  <a:srgbClr val="212121"/>
                </a:solidFill>
                <a:latin typeface="Inter"/>
              </a:rPr>
              <a:t>Works at any live event — concerts, expos, conferences, not just cricket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b="1">
                <a:latin typeface="Inter"/>
              </a:rPr>
              <a:t>Live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>
                <a:latin typeface="Inter"/>
              </a:rPr>
              <a:t>Open your phone. Scan the QR. Rate something.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414016" y="3856482"/>
            <a:ext cx="548640" cy="0"/>
          </a:xfrm>
          <a:prstGeom prst="line">
            <a:avLst/>
          </a:prstGeom>
          <a:ln w="19050">
            <a:solidFill>
              <a:srgbClr val="1A237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828031" y="3856482"/>
            <a:ext cx="548641" cy="0"/>
          </a:xfrm>
          <a:prstGeom prst="line">
            <a:avLst/>
          </a:prstGeom>
          <a:ln w="19050">
            <a:solidFill>
              <a:srgbClr val="1A237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7242048" y="3856481"/>
            <a:ext cx="987551" cy="1"/>
          </a:xfrm>
          <a:prstGeom prst="line">
            <a:avLst/>
          </a:prstGeom>
          <a:ln w="19050">
            <a:solidFill>
              <a:srgbClr val="1A237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48640" y="3008376"/>
            <a:ext cx="1865376" cy="1696211"/>
          </a:xfrm>
          <a:prstGeom prst="roundRect">
            <a:avLst/>
          </a:prstGeom>
          <a:solidFill>
            <a:srgbClr val="1A237E"/>
          </a:solidFill>
          <a:ln w="15875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Scan QR
&amp; Install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62656" y="3008376"/>
            <a:ext cx="1865376" cy="1696211"/>
          </a:xfrm>
          <a:prstGeom prst="roundRect">
            <a:avLst/>
          </a:prstGeom>
          <a:solidFill>
            <a:srgbClr val="00897B"/>
          </a:solidFill>
          <a:ln w="15875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Login
+91 + OTP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76672" y="3008376"/>
            <a:ext cx="1865376" cy="1696211"/>
          </a:xfrm>
          <a:prstGeom prst="roundRect">
            <a:avLst/>
          </a:prstGeom>
          <a:solidFill>
            <a:srgbClr val="F9A825"/>
          </a:solidFill>
          <a:ln w="15875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212121"/>
                </a:solidFill>
                <a:latin typeface="Inter"/>
              </a:rPr>
              <a:t>Snap food
AI classifies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599" y="2523744"/>
            <a:ext cx="3072384" cy="2665476"/>
          </a:xfrm>
          <a:prstGeom prst="roundRect">
            <a:avLst/>
          </a:prstGeom>
          <a:solidFill>
            <a:srgbClr val="D32F2F"/>
          </a:solidFill>
          <a:ln w="15875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Watch the
leaderboard
update LIVE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b="1">
                <a:latin typeface="Inter"/>
              </a:rPr>
              <a:t>StadiumBite — Rate. Rave. Repeat.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